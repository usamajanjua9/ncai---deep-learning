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autoCompressPictures="0">
  <p:sldMasterIdLst>
    <p:sldMasterId id="2147483672" r:id="rId4"/>
  </p:sldMasterIdLst>
  <p:notesMasterIdLst>
    <p:notesMasterId r:id="rId32"/>
  </p:notesMasterIdLst>
  <p:handoutMasterIdLst>
    <p:handoutMasterId r:id="rId33"/>
  </p:handoutMasterIdLst>
  <p:sldIdLst>
    <p:sldId id="256" r:id="rId5"/>
    <p:sldId id="257" r:id="rId6"/>
    <p:sldId id="258" r:id="rId7"/>
    <p:sldId id="293" r:id="rId8"/>
    <p:sldId id="294" r:id="rId9"/>
    <p:sldId id="263" r:id="rId10"/>
    <p:sldId id="279" r:id="rId11"/>
    <p:sldId id="281" r:id="rId12"/>
    <p:sldId id="296" r:id="rId13"/>
    <p:sldId id="297" r:id="rId14"/>
    <p:sldId id="298" r:id="rId15"/>
    <p:sldId id="299" r:id="rId16"/>
    <p:sldId id="300" r:id="rId17"/>
    <p:sldId id="288" r:id="rId18"/>
    <p:sldId id="301" r:id="rId19"/>
    <p:sldId id="302" r:id="rId20"/>
    <p:sldId id="305" r:id="rId21"/>
    <p:sldId id="303" r:id="rId22"/>
    <p:sldId id="304" r:id="rId23"/>
    <p:sldId id="306" r:id="rId24"/>
    <p:sldId id="307" r:id="rId25"/>
    <p:sldId id="308" r:id="rId26"/>
    <p:sldId id="309" r:id="rId27"/>
    <p:sldId id="310" r:id="rId28"/>
    <p:sldId id="311" r:id="rId29"/>
    <p:sldId id="312" r:id="rId30"/>
    <p:sldId id="284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5" autoAdjust="0"/>
    <p:restoredTop sz="94648" autoAdjust="0"/>
  </p:normalViewPr>
  <p:slideViewPr>
    <p:cSldViewPr snapToGrid="0">
      <p:cViewPr>
        <p:scale>
          <a:sx n="75" d="100"/>
          <a:sy n="75" d="100"/>
        </p:scale>
        <p:origin x="931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44646B-21C0-410B-BA17-64C59EB292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89392C-F5C5-4C38-94CE-455C7F402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29A4FD-FAFB-4CDA-9DC5-D20CA18269A9}" type="datetimeFigureOut">
              <a:rPr lang="en-US" smtClean="0"/>
              <a:t>4/24/2022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2F3D2C-86D2-4CEA-B1B8-750885E16DD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6D5F72-69F2-4B4B-A943-B04C4B1E36A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EBA49-8001-49C3-9348-7448336215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90609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91E35E-F34C-4F0E-B8A1-D9F5F49CB3AD}" type="datetimeFigureOut">
              <a:rPr lang="en-US" smtClean="0"/>
              <a:t>4/24/2022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3F15BC-4AA1-41C4-8C26-91A7E3BB93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4676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F15BC-4AA1-41C4-8C26-91A7E3BB93D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052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3F15BC-4AA1-41C4-8C26-91A7E3BB93DC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6715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Instead of having a single neural network layer, there are four, interacting in a very special way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3F8B38-4E0C-4B9E-ACC5-95986C839B0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1131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key to LSTMs is the cell state, the horizontal line running through the top of the diagram.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cell state is kind of like a conveyor belt. It runs straight down the entire chain, with only some minor linear interactions. It’s very easy for information to just flow along it unchanged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3F8B38-4E0C-4B9E-ACC5-95986C839B0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929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2693803-9C79-4ACB-BB72-0F6C6CA9C739}" type="datetime1">
              <a:rPr lang="en-US" smtClean="0"/>
              <a:t>4/24/2022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 smtClean="0"/>
              <a:t>Presented by Usama Arshad. (PhD CS)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3C23A-A226-4F69-8492-C933903E4563}" type="datetime1">
              <a:rPr lang="en-US" smtClean="0"/>
              <a:t>4/24/2022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Presented by Usama Arshad. (PhD CS)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7E50711-6476-4B82-8542-47AED798BFAC}" type="datetime1">
              <a:rPr lang="en-US" smtClean="0"/>
              <a:t>4/24/2022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 smtClean="0"/>
              <a:t>Presented by Usama Arshad. (PhD CS)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EE532-9F16-4026-9D76-2785AE4FA754}" type="datetime1">
              <a:rPr lang="en-US" smtClean="0"/>
              <a:t>4/24/2022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Presented by Usama Arshad. (PhD CS)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8916E-1903-49FF-8B51-DD5D8508A5A7}" type="datetime1">
              <a:rPr lang="en-US" smtClean="0"/>
              <a:t>4/24/2022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Presented by Usama Arshad. (PhD CS)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9C03F-92E9-4BFD-AE2E-64D7BBDF550F}" type="datetime1">
              <a:rPr lang="en-US" smtClean="0"/>
              <a:t>4/24/2022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Presented by Usama Arshad. (PhD CS)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19E66-0BEB-46D6-81B2-B8FE3455593D}" type="datetime1">
              <a:rPr lang="en-US" smtClean="0"/>
              <a:t>4/24/2022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Presented by Usama Arshad. (PhD CS)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EE22D80-FAE0-4F5A-9CF1-CAAA03A24832}" type="datetime1">
              <a:rPr lang="en-US" smtClean="0"/>
              <a:t>4/24/2022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 smtClean="0"/>
              <a:t>Presented by Usama Arshad. (PhD CS)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1EB0A-79F7-4520-A8F3-D4B9A9A37426}" type="datetime1">
              <a:rPr lang="en-US" smtClean="0"/>
              <a:t>4/24/2022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Presented by Usama Arshad. (PhD CS)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4BFAF-77A0-41F8-9E46-A98466DE403B}" type="datetime1">
              <a:rPr lang="en-US" smtClean="0"/>
              <a:t>4/24/2022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Presented by Usama Arshad. (PhD CS)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0331538-7484-4298-AE95-B9BD79AADA7C}" type="datetime1">
              <a:rPr lang="en-US" smtClean="0"/>
              <a:t>4/24/2022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r>
              <a:rPr lang="en-GB" smtClean="0"/>
              <a:t>Presented by Usama Arshad. (PhD CS)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ABF88D78-6ECF-4D73-8534-7B2FB2A52A3E}" type="datetime1">
              <a:rPr lang="en-US" smtClean="0"/>
              <a:t>4/24/2022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r>
              <a:rPr lang="en-GB" smtClean="0"/>
              <a:t>Presented by Usama Arshad. (PhD CS)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gif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>
            <a:noAutofit/>
          </a:bodyPr>
          <a:lstStyle/>
          <a:p>
            <a:r>
              <a:rPr lang="en-US" sz="4800" dirty="0" smtClean="0">
                <a:solidFill>
                  <a:schemeClr val="bg1"/>
                </a:solidFill>
              </a:rPr>
              <a:t>Recurrent</a:t>
            </a:r>
            <a:r>
              <a:rPr lang="en-US" sz="4800" dirty="0" smtClean="0">
                <a:solidFill>
                  <a:schemeClr val="bg1"/>
                </a:solidFill>
              </a:rPr>
              <a:t> </a:t>
            </a:r>
            <a:r>
              <a:rPr lang="en-US" sz="4800" dirty="0">
                <a:solidFill>
                  <a:schemeClr val="bg1"/>
                </a:solidFill>
              </a:rPr>
              <a:t>Neural Networks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7CEBFF"/>
                </a:solidFill>
              </a:rPr>
              <a:t>Presentation </a:t>
            </a:r>
            <a:r>
              <a:rPr lang="en-US" dirty="0" smtClean="0">
                <a:solidFill>
                  <a:srgbClr val="7CEBFF"/>
                </a:solidFill>
              </a:rPr>
              <a:t>5</a:t>
            </a:r>
            <a:endParaRPr lang="en-US" dirty="0">
              <a:solidFill>
                <a:srgbClr val="7CE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smtClean="0"/>
              <a:t>OUTLINE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Introduction</a:t>
            </a:r>
          </a:p>
          <a:p>
            <a:r>
              <a:rPr lang="en-US" sz="2400" dirty="0" smtClean="0"/>
              <a:t>History</a:t>
            </a:r>
          </a:p>
          <a:p>
            <a:r>
              <a:rPr lang="en-US" sz="2400" dirty="0" smtClean="0"/>
              <a:t>Architecture</a:t>
            </a:r>
          </a:p>
          <a:p>
            <a:r>
              <a:rPr lang="en-US" sz="2400" dirty="0"/>
              <a:t>Types and </a:t>
            </a:r>
            <a:r>
              <a:rPr lang="en-US" sz="2400" dirty="0" smtClean="0"/>
              <a:t>Applications</a:t>
            </a:r>
            <a:endParaRPr lang="en-US" sz="2400" dirty="0" smtClean="0"/>
          </a:p>
          <a:p>
            <a:r>
              <a:rPr lang="en-US" sz="2400" dirty="0" smtClean="0"/>
              <a:t>Major limitations and solutions</a:t>
            </a:r>
            <a:endParaRPr lang="en-US" sz="2400" dirty="0" smtClean="0"/>
          </a:p>
          <a:p>
            <a:r>
              <a:rPr lang="en-US" sz="2400" dirty="0" smtClean="0"/>
              <a:t>Practical </a:t>
            </a:r>
            <a:r>
              <a:rPr lang="en-US" sz="2400" dirty="0" smtClean="0"/>
              <a:t>example</a:t>
            </a:r>
            <a:endParaRPr lang="en-US" sz="24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130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 Neural Network consists of different layers connected to each other, working on the structure and function of a human brain. </a:t>
            </a:r>
            <a:endParaRPr lang="en-US" sz="2400" dirty="0" smtClean="0"/>
          </a:p>
          <a:p>
            <a:r>
              <a:rPr lang="en-US" sz="2400" dirty="0" smtClean="0"/>
              <a:t>It </a:t>
            </a:r>
            <a:r>
              <a:rPr lang="en-US" sz="2400" dirty="0"/>
              <a:t>learns from huge volumes of data and uses complex algorithms to train a neural net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RNN works on the principle of saving the output of a particular layer and feeding this back to the input in order to predict the output of the layer.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236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 smtClean="0">
                <a:solidFill>
                  <a:srgbClr val="FF0000"/>
                </a:solidFill>
              </a:rPr>
              <a:t>Wait a sec!</a:t>
            </a:r>
          </a:p>
          <a:p>
            <a:pPr marL="0" indent="0">
              <a:buNone/>
            </a:pPr>
            <a:r>
              <a:rPr lang="en-US" sz="3200" dirty="0" smtClean="0">
                <a:solidFill>
                  <a:srgbClr val="FF0000"/>
                </a:solidFill>
              </a:rPr>
              <a:t>It sounds familiar right?</a:t>
            </a:r>
          </a:p>
          <a:p>
            <a:r>
              <a:rPr lang="en-US" sz="3200" dirty="0" smtClean="0"/>
              <a:t>We already discussed CNNs and ANNs!</a:t>
            </a:r>
          </a:p>
          <a:p>
            <a:pPr marL="0" indent="0">
              <a:buNone/>
            </a:pPr>
            <a:r>
              <a:rPr lang="en-US" sz="3200" dirty="0" smtClean="0"/>
              <a:t>So what changed?</a:t>
            </a:r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527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180496"/>
            <a:ext cx="10548626" cy="426648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200" dirty="0" smtClean="0">
                <a:solidFill>
                  <a:srgbClr val="FF0000"/>
                </a:solidFill>
              </a:rPr>
              <a:t>It turns out CNNs have major limitations!</a:t>
            </a:r>
            <a:endParaRPr lang="en-US" sz="3200" dirty="0">
              <a:solidFill>
                <a:srgbClr val="FF0000"/>
              </a:solidFill>
            </a:endParaRPr>
          </a:p>
          <a:p>
            <a:r>
              <a:rPr lang="en-US" sz="2800" b="1" dirty="0">
                <a:solidFill>
                  <a:schemeClr val="tx1"/>
                </a:solidFill>
              </a:rPr>
              <a:t>Cannot handle sequential </a:t>
            </a:r>
            <a:r>
              <a:rPr lang="en-US" sz="2800" b="1" dirty="0" smtClean="0">
                <a:solidFill>
                  <a:schemeClr val="tx1"/>
                </a:solidFill>
              </a:rPr>
              <a:t>data. </a:t>
            </a:r>
          </a:p>
          <a:p>
            <a:pPr marL="0" indent="0">
              <a:buNone/>
            </a:pPr>
            <a:r>
              <a:rPr lang="en-US" sz="2800" dirty="0" smtClean="0">
                <a:solidFill>
                  <a:schemeClr val="tx1"/>
                </a:solidFill>
              </a:rPr>
              <a:t>Can’t </a:t>
            </a:r>
            <a:r>
              <a:rPr lang="en-US" sz="2800" dirty="0">
                <a:solidFill>
                  <a:schemeClr val="tx1"/>
                </a:solidFill>
              </a:rPr>
              <a:t>model relationship between instances, desirable in many applications such as video processing</a:t>
            </a:r>
            <a:r>
              <a:rPr lang="en-US" sz="2800" dirty="0" smtClean="0">
                <a:solidFill>
                  <a:schemeClr val="tx1"/>
                </a:solidFill>
              </a:rPr>
              <a:t>.</a:t>
            </a:r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b="1" dirty="0">
                <a:solidFill>
                  <a:schemeClr val="tx1"/>
                </a:solidFill>
              </a:rPr>
              <a:t>Considers only the current </a:t>
            </a:r>
            <a:r>
              <a:rPr lang="en-US" sz="2800" b="1" dirty="0" smtClean="0">
                <a:solidFill>
                  <a:schemeClr val="tx1"/>
                </a:solidFill>
              </a:rPr>
              <a:t>input. </a:t>
            </a:r>
          </a:p>
          <a:p>
            <a:pPr marL="0" indent="0">
              <a:buNone/>
            </a:pPr>
            <a:r>
              <a:rPr lang="en-US" sz="2800" dirty="0" smtClean="0">
                <a:solidFill>
                  <a:schemeClr val="tx1"/>
                </a:solidFill>
              </a:rPr>
              <a:t>Can’t </a:t>
            </a:r>
            <a:r>
              <a:rPr lang="en-US" sz="2800" dirty="0">
                <a:solidFill>
                  <a:schemeClr val="tx1"/>
                </a:solidFill>
              </a:rPr>
              <a:t>handle variable size inputs and outputs, desirable in many applications such as video processing, text processing and speech </a:t>
            </a:r>
            <a:r>
              <a:rPr lang="en-US" sz="2800" dirty="0" smtClean="0">
                <a:solidFill>
                  <a:schemeClr val="tx1"/>
                </a:solidFill>
              </a:rPr>
              <a:t>processing.</a:t>
            </a:r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b="1" dirty="0">
                <a:solidFill>
                  <a:schemeClr val="tx1"/>
                </a:solidFill>
              </a:rPr>
              <a:t>Cannot memorize previous </a:t>
            </a:r>
            <a:r>
              <a:rPr lang="en-US" sz="2800" b="1" dirty="0" smtClean="0">
                <a:solidFill>
                  <a:schemeClr val="tx1"/>
                </a:solidFill>
              </a:rPr>
              <a:t>inputs. </a:t>
            </a:r>
          </a:p>
          <a:p>
            <a:pPr marL="0" indent="0">
              <a:buNone/>
            </a:pPr>
            <a:r>
              <a:rPr lang="en-US" sz="2800" dirty="0" smtClean="0">
                <a:solidFill>
                  <a:schemeClr val="tx1"/>
                </a:solidFill>
              </a:rPr>
              <a:t>Only </a:t>
            </a:r>
            <a:r>
              <a:rPr lang="en-US" sz="2800" dirty="0">
                <a:solidFill>
                  <a:schemeClr val="tx1"/>
                </a:solidFill>
              </a:rPr>
              <a:t>bounded context in handle, not suitable for certain applications such as video and speech </a:t>
            </a:r>
            <a:r>
              <a:rPr lang="en-US" sz="2800" dirty="0" smtClean="0">
                <a:solidFill>
                  <a:schemeClr val="tx1"/>
                </a:solidFill>
              </a:rPr>
              <a:t>processing.</a:t>
            </a:r>
            <a:endParaRPr lang="en-US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193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History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599" y="2166771"/>
            <a:ext cx="6429208" cy="390529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concept of RNN was brought up in 1986. And the famous LSTM architecture was invented in 1997.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number of well-known architectures of RNN is much less than that from CNN. </a:t>
            </a:r>
            <a:endParaRPr lang="en-US" dirty="0" smtClean="0"/>
          </a:p>
          <a:p>
            <a:r>
              <a:rPr lang="en-US" dirty="0" smtClean="0"/>
              <a:t>As </a:t>
            </a:r>
            <a:r>
              <a:rPr lang="en-US" dirty="0"/>
              <a:t>the famous saying “</a:t>
            </a:r>
            <a:r>
              <a:rPr lang="en-US" sz="2400" b="1" dirty="0">
                <a:solidFill>
                  <a:srgbClr val="FF0000"/>
                </a:solidFill>
              </a:rPr>
              <a:t>A picture is worth a thousand words</a:t>
            </a:r>
            <a:r>
              <a:rPr lang="en-US" dirty="0"/>
              <a:t>” implies, images have much more information and space to maneuver, so it is no surprise that the evolution history of RNN is not as colorful. </a:t>
            </a:r>
            <a:endParaRPr lang="en-US" dirty="0" smtClean="0"/>
          </a:p>
          <a:p>
            <a:r>
              <a:rPr lang="en-US" dirty="0" smtClean="0"/>
              <a:t>We </a:t>
            </a:r>
            <a:r>
              <a:rPr lang="en-US" dirty="0"/>
              <a:t>categorize the history into 3 phases, which are Overloaded Single Memory for Vanilla RNN, Multiple Gate Memories for LSTM and Pay Attention for Encoder-Decoder architecture with RNN respectively.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026" name="Picture 2" descr="https://miro.medium.com/max/1400/1*QSlp4VzdD-DZEn5K3rZuO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7200" y="3160084"/>
            <a:ext cx="5306561" cy="1882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9202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Architecture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720953" y="2064463"/>
            <a:ext cx="4922466" cy="44966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6000" lvl="0" indent="-3060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800" dirty="0" smtClean="0">
                <a:solidFill>
                  <a:srgbClr val="3D3D3D"/>
                </a:solidFill>
              </a:rPr>
              <a:t>The </a:t>
            </a:r>
            <a:r>
              <a:rPr lang="en-US" sz="2800" dirty="0">
                <a:solidFill>
                  <a:srgbClr val="3D3D3D"/>
                </a:solidFill>
              </a:rPr>
              <a:t>nodes in different layers of the neural network are compressed to form a single layer of recurrent neural networks. </a:t>
            </a:r>
          </a:p>
          <a:p>
            <a:pPr marL="306000" lvl="0" indent="-3060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800" dirty="0">
                <a:solidFill>
                  <a:srgbClr val="3D3D3D"/>
                </a:solidFill>
              </a:rPr>
              <a:t>A, B, and C are the parameters of the network.</a:t>
            </a:r>
          </a:p>
          <a:p>
            <a:pPr marL="306000" lvl="0" indent="-3060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</a:pPr>
            <a:endParaRPr lang="en-US" sz="2800" dirty="0">
              <a:solidFill>
                <a:srgbClr val="3D3D3D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3600" dirty="0" smtClean="0"/>
          </a:p>
        </p:txBody>
      </p:sp>
      <p:pic>
        <p:nvPicPr>
          <p:cNvPr id="2050" name="Picture 2" descr="https://www.simplilearn.com/ice9/free_resources_article_thumb/Network_framework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7673" y="1872399"/>
            <a:ext cx="5421746" cy="4589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1001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architecture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3074" name="Picture 2" descr="https://www.simplilearn.com/ice9/free_resources_article_thumb/Simple_Recurrent_Neural_Network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194" y="2156839"/>
            <a:ext cx="5372989" cy="1842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E:\uni2\CUI 1st sem\uni work\AI\internet AI\rnn_files\41_blog_image_6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636" y="4371540"/>
            <a:ext cx="3398324" cy="2103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79569" y="4371540"/>
            <a:ext cx="1785478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414549"/>
                </a:solidFill>
                <a:latin typeface="Roboto"/>
              </a:rPr>
              <a:t>Squashing the network. </a:t>
            </a:r>
            <a:r>
              <a:rPr lang="en-US" sz="1600" dirty="0">
                <a:solidFill>
                  <a:srgbClr val="414549"/>
                </a:solidFill>
                <a:latin typeface="Roboto"/>
              </a:rPr>
              <a:t>The layers are still there but think of it as if we’re looking from underneath this neural network.</a:t>
            </a:r>
            <a:endParaRPr lang="en-US" sz="1600" b="0" i="0" dirty="0">
              <a:solidFill>
                <a:srgbClr val="414549"/>
              </a:solidFill>
              <a:effectLst/>
              <a:latin typeface="Roboto"/>
            </a:endParaRPr>
          </a:p>
        </p:txBody>
      </p:sp>
      <p:pic>
        <p:nvPicPr>
          <p:cNvPr id="3078" name="Picture 6" descr="E:\uni2\CUI 1st sem\uni work\AI\internet AI\rnn_files\41_blog_image_9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6035" y="4371540"/>
            <a:ext cx="2171395" cy="2171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ight Arrow 3"/>
          <p:cNvSpPr/>
          <p:nvPr/>
        </p:nvSpPr>
        <p:spPr>
          <a:xfrm rot="19143485">
            <a:off x="7173265" y="4952129"/>
            <a:ext cx="539162" cy="302092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>
            <a:off x="5546433" y="5260112"/>
            <a:ext cx="539162" cy="302092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80" name="Picture 8" descr="Fully_connected_Recurrent_Neural_Network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4525" y="2156839"/>
            <a:ext cx="5670678" cy="2214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8169830" y="4938370"/>
            <a:ext cx="303759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51565E"/>
                </a:solidFill>
                <a:latin typeface="Roboto"/>
              </a:rPr>
              <a:t>In Recurrent Neural networks, the information cycles through a loop to the middle hidden layer.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272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Typical RNNs Applications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2088" y="2014538"/>
            <a:ext cx="9125912" cy="3624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9232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RNNs Applications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084364"/>
            <a:ext cx="9067800" cy="3706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21338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RNNs Applications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133601"/>
            <a:ext cx="9144000" cy="371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88272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RNNs Applications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045466"/>
            <a:ext cx="9144000" cy="3745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8173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RNNs Applications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200275"/>
            <a:ext cx="9067800" cy="3680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7075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Limitations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Key Characteristic of RNNs</a:t>
            </a:r>
          </a:p>
          <a:p>
            <a:r>
              <a:rPr lang="en-US" dirty="0"/>
              <a:t>To connect previous information to the present task, e.g. previous video frames might help the understanding of the present frame</a:t>
            </a:r>
          </a:p>
          <a:p>
            <a:pPr marL="0" indent="0">
              <a:buNone/>
            </a:pPr>
            <a:r>
              <a:rPr lang="en-US" b="1" dirty="0"/>
              <a:t>Drawback</a:t>
            </a:r>
          </a:p>
          <a:p>
            <a:r>
              <a:rPr lang="en-US" dirty="0"/>
              <a:t>RNN are useful to use the past information when the gap between the relevant information and the place that it’s needed is small, e.g. “the clouds are in the sky”</a:t>
            </a:r>
          </a:p>
          <a:p>
            <a:r>
              <a:rPr lang="en-US" dirty="0"/>
              <a:t>RNN is </a:t>
            </a:r>
            <a:r>
              <a:rPr lang="en-US" dirty="0" smtClean="0"/>
              <a:t>enabled </a:t>
            </a:r>
            <a:r>
              <a:rPr lang="en-US" dirty="0"/>
              <a:t>to handle applications that require longer context, e.g. “I grew up in Pakistan… I speak fluent Urdu.”</a:t>
            </a:r>
          </a:p>
          <a:p>
            <a:pPr marL="0" indent="0">
              <a:buNone/>
            </a:pPr>
            <a:r>
              <a:rPr lang="en-US" b="1" dirty="0"/>
              <a:t>Why?</a:t>
            </a:r>
          </a:p>
          <a:p>
            <a:r>
              <a:rPr lang="en-US" dirty="0"/>
              <a:t>Vanishing gradient problem (VGP)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1525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Limitations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Key Characteristic of RNNs</a:t>
            </a:r>
          </a:p>
          <a:p>
            <a:r>
              <a:rPr lang="en-US" dirty="0"/>
              <a:t>To connect previous information to the present task, e.g. previous video frames might help the understanding of the present frame</a:t>
            </a:r>
          </a:p>
          <a:p>
            <a:pPr marL="0" indent="0">
              <a:buNone/>
            </a:pPr>
            <a:r>
              <a:rPr lang="en-US" b="1" dirty="0"/>
              <a:t>Drawback</a:t>
            </a:r>
          </a:p>
          <a:p>
            <a:r>
              <a:rPr lang="en-US" dirty="0"/>
              <a:t>Recurrent Neural Networks enable you to model time-dependent and sequential data problems, such as stock market prediction, machine translation, and text generation. You will find, however, RNN is hard to </a:t>
            </a:r>
            <a:r>
              <a:rPr lang="en-US" dirty="0" smtClean="0"/>
              <a:t>train.</a:t>
            </a:r>
          </a:p>
          <a:p>
            <a:pPr marL="0" indent="0">
              <a:buNone/>
            </a:pPr>
            <a:r>
              <a:rPr lang="en-US" b="1" dirty="0" smtClean="0"/>
              <a:t>Why</a:t>
            </a:r>
            <a:r>
              <a:rPr lang="en-US" b="1" dirty="0"/>
              <a:t>?</a:t>
            </a:r>
          </a:p>
          <a:p>
            <a:r>
              <a:rPr lang="en-US" dirty="0"/>
              <a:t>Vanishing gradient problem (VGP)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874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Limitations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Key Characteristic of RNNs</a:t>
            </a:r>
          </a:p>
          <a:p>
            <a:r>
              <a:rPr lang="en-US" dirty="0"/>
              <a:t>To connect previous information to the present task, e.g. previous video frames might help the understanding of the present frame</a:t>
            </a:r>
          </a:p>
          <a:p>
            <a:pPr marL="0" indent="0">
              <a:buNone/>
            </a:pPr>
            <a:r>
              <a:rPr lang="en-US" b="1" dirty="0"/>
              <a:t>Drawback</a:t>
            </a:r>
          </a:p>
          <a:p>
            <a:r>
              <a:rPr lang="en-US" dirty="0"/>
              <a:t>Recurrent Neural Networks enable you to model time-dependent and sequential data problems, such as stock market prediction, machine translation, and text generation. You will find, however, RNN is hard to </a:t>
            </a:r>
            <a:r>
              <a:rPr lang="en-US" dirty="0" smtClean="0"/>
              <a:t>train.</a:t>
            </a:r>
          </a:p>
          <a:p>
            <a:pPr marL="0" indent="0">
              <a:buNone/>
            </a:pPr>
            <a:r>
              <a:rPr lang="en-US" b="1" dirty="0" smtClean="0"/>
              <a:t>Why</a:t>
            </a:r>
            <a:r>
              <a:rPr lang="en-US" b="1" dirty="0"/>
              <a:t>?</a:t>
            </a:r>
          </a:p>
          <a:p>
            <a:r>
              <a:rPr lang="en-US" dirty="0"/>
              <a:t>Vanishing gradient problem (VGP)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2320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Gradient Problem Solutions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4305767" cy="1753203"/>
          </a:xfrm>
        </p:spPr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dirty="0"/>
              <a:t>gradients carry information used in the RNN, and when the gradient becomes too small, the parameter updates become insignificant. This makes the learning of long data sequences difficult</a:t>
            </a:r>
            <a:r>
              <a:rPr lang="en-US" dirty="0" smtClean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4098" name="Picture 2" descr="https://www.simplilearn.com/ice9/free_resources_article_thumb/Gradient_Problem_Solution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176" y="3759201"/>
            <a:ext cx="8810421" cy="3026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5850088" y="2363162"/>
            <a:ext cx="485855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While training a neural network, if the slope tends to grow exponentially instead of decaying, this is called an Exploding Gradient.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889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Long Short Term Memory (LSTM)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600202"/>
            <a:ext cx="5438607" cy="4525433"/>
          </a:xfrm>
        </p:spPr>
        <p:txBody>
          <a:bodyPr>
            <a:normAutofit/>
          </a:bodyPr>
          <a:lstStyle/>
          <a:p>
            <a:r>
              <a:rPr lang="en-US" sz="2400" dirty="0" err="1" smtClean="0">
                <a:cs typeface="Arial" pitchFamily="34" charset="0"/>
              </a:rPr>
              <a:t>Hochreiter</a:t>
            </a:r>
            <a:r>
              <a:rPr lang="en-US" sz="2400" dirty="0" smtClean="0">
                <a:cs typeface="Arial" pitchFamily="34" charset="0"/>
              </a:rPr>
              <a:t> &amp; </a:t>
            </a:r>
            <a:r>
              <a:rPr lang="en-US" sz="2400" dirty="0" err="1" smtClean="0">
                <a:cs typeface="Arial" pitchFamily="34" charset="0"/>
              </a:rPr>
              <a:t>Schmidhuber</a:t>
            </a:r>
            <a:r>
              <a:rPr lang="en-US" sz="2400" dirty="0" smtClean="0">
                <a:cs typeface="Arial" pitchFamily="34" charset="0"/>
              </a:rPr>
              <a:t> (1997) solved the problem of getting an RNN to remember things for a long time (like hundreds of time steps). </a:t>
            </a:r>
          </a:p>
          <a:p>
            <a:r>
              <a:rPr lang="en-US" sz="2400" dirty="0" smtClean="0">
                <a:cs typeface="Arial" pitchFamily="34" charset="0"/>
              </a:rPr>
              <a:t>They designed a memory cell using logistic and linear units with multiplicative interactions.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600202"/>
            <a:ext cx="5438609" cy="4525433"/>
          </a:xfrm>
        </p:spPr>
        <p:txBody>
          <a:bodyPr>
            <a:normAutofit/>
          </a:bodyPr>
          <a:lstStyle/>
          <a:p>
            <a:r>
              <a:rPr lang="en-US" sz="2400" dirty="0" smtClean="0">
                <a:cs typeface="Arial" pitchFamily="34" charset="0"/>
              </a:rPr>
              <a:t>Information gets into the cell whenever its </a:t>
            </a:r>
            <a:r>
              <a:rPr lang="en-US" altLang="en-US" sz="2400" dirty="0" smtClean="0">
                <a:cs typeface="Arial" pitchFamily="34" charset="0"/>
              </a:rPr>
              <a:t>“</a:t>
            </a:r>
            <a:r>
              <a:rPr lang="en-US" sz="2400" dirty="0" smtClean="0">
                <a:cs typeface="Arial" pitchFamily="34" charset="0"/>
              </a:rPr>
              <a:t>write</a:t>
            </a:r>
            <a:r>
              <a:rPr lang="en-US" altLang="en-US" sz="2400" dirty="0" smtClean="0">
                <a:cs typeface="Arial" pitchFamily="34" charset="0"/>
              </a:rPr>
              <a:t>”</a:t>
            </a:r>
            <a:r>
              <a:rPr lang="en-US" sz="2400" dirty="0" smtClean="0">
                <a:cs typeface="Arial" pitchFamily="34" charset="0"/>
              </a:rPr>
              <a:t> gate is on.</a:t>
            </a:r>
          </a:p>
          <a:p>
            <a:r>
              <a:rPr lang="en-US" sz="2400" dirty="0" smtClean="0">
                <a:cs typeface="Arial" pitchFamily="34" charset="0"/>
              </a:rPr>
              <a:t>The information stays in the cell so long as its </a:t>
            </a:r>
            <a:r>
              <a:rPr lang="en-US" altLang="en-US" sz="2400" dirty="0" smtClean="0">
                <a:cs typeface="Arial" pitchFamily="34" charset="0"/>
              </a:rPr>
              <a:t>“</a:t>
            </a:r>
            <a:r>
              <a:rPr lang="en-US" sz="2400" dirty="0" smtClean="0">
                <a:cs typeface="Arial" pitchFamily="34" charset="0"/>
              </a:rPr>
              <a:t>keep</a:t>
            </a:r>
            <a:r>
              <a:rPr lang="en-US" altLang="en-US" sz="2400" dirty="0" smtClean="0">
                <a:cs typeface="Arial" pitchFamily="34" charset="0"/>
              </a:rPr>
              <a:t>”</a:t>
            </a:r>
            <a:r>
              <a:rPr lang="en-US" sz="2400" dirty="0" smtClean="0">
                <a:cs typeface="Arial" pitchFamily="34" charset="0"/>
              </a:rPr>
              <a:t> gate is on.</a:t>
            </a:r>
          </a:p>
          <a:p>
            <a:r>
              <a:rPr lang="en-US" sz="2400" dirty="0" smtClean="0">
                <a:cs typeface="Arial" pitchFamily="34" charset="0"/>
              </a:rPr>
              <a:t>Information can be read from the cell by turning on its </a:t>
            </a:r>
            <a:r>
              <a:rPr lang="en-US" altLang="en-US" sz="2400" dirty="0" smtClean="0">
                <a:cs typeface="Arial" pitchFamily="34" charset="0"/>
              </a:rPr>
              <a:t>“</a:t>
            </a:r>
            <a:r>
              <a:rPr lang="en-US" sz="2400" dirty="0" smtClean="0">
                <a:cs typeface="Arial" pitchFamily="34" charset="0"/>
              </a:rPr>
              <a:t>read</a:t>
            </a:r>
            <a:r>
              <a:rPr lang="en-US" altLang="en-US" sz="2400" dirty="0" smtClean="0">
                <a:cs typeface="Arial" pitchFamily="34" charset="0"/>
              </a:rPr>
              <a:t>”</a:t>
            </a:r>
            <a:r>
              <a:rPr lang="en-US" sz="2400" dirty="0" smtClean="0">
                <a:cs typeface="Arial" pitchFamily="34" charset="0"/>
              </a:rPr>
              <a:t> gate.</a:t>
            </a:r>
          </a:p>
        </p:txBody>
      </p:sp>
    </p:spTree>
    <p:extLst>
      <p:ext uri="{BB962C8B-B14F-4D97-AF65-F5344CB8AC3E}">
        <p14:creationId xmlns:p14="http://schemas.microsoft.com/office/powerpoint/2010/main" val="427415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/>
          <p:cNvSpPr>
            <a:spLocks noGrp="1"/>
          </p:cNvSpPr>
          <p:nvPr>
            <p:ph type="title"/>
          </p:nvPr>
        </p:nvSpPr>
        <p:spPr>
          <a:xfrm>
            <a:off x="2862739" y="614682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Basic Architecture of LSTM Unit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2204720"/>
            <a:ext cx="8076883" cy="4729480"/>
          </a:xfrm>
        </p:spPr>
        <p:txBody>
          <a:bodyPr rtlCol="0">
            <a:normAutofit/>
          </a:bodyPr>
          <a:lstStyle/>
          <a:p>
            <a:pPr>
              <a:spcAft>
                <a:spcPts val="0"/>
              </a:spcAft>
              <a:buFont typeface="Arial"/>
              <a:buChar char="•"/>
              <a:defRPr/>
            </a:pPr>
            <a:r>
              <a:rPr lang="en-US" sz="2800" dirty="0">
                <a:ea typeface="+mn-ea"/>
                <a:cs typeface="Arial"/>
              </a:rPr>
              <a:t>T</a:t>
            </a:r>
            <a:r>
              <a:rPr lang="en-US" sz="2800" dirty="0" smtClean="0">
                <a:ea typeface="+mn-ea"/>
                <a:cs typeface="Arial"/>
              </a:rPr>
              <a:t>o preserve information for a long time in the activities of an RNN, a memory cell is used.</a:t>
            </a:r>
          </a:p>
          <a:p>
            <a:pPr lvl="1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400" dirty="0" smtClean="0">
                <a:cs typeface="Arial"/>
              </a:rPr>
              <a:t>The cell maintains its state by activating keep gate (i.e. by setting value of keep gate = 1).</a:t>
            </a:r>
          </a:p>
          <a:p>
            <a:pPr lvl="1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400" dirty="0" smtClean="0">
                <a:cs typeface="Arial"/>
              </a:rPr>
              <a:t>Information is stored in the cell by activating its write gate. </a:t>
            </a:r>
          </a:p>
          <a:p>
            <a:pPr lvl="1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400" dirty="0" smtClean="0">
                <a:cs typeface="Arial"/>
              </a:rPr>
              <a:t>Information is retrieved by activating the read gate.</a:t>
            </a:r>
          </a:p>
          <a:p>
            <a:pPr lvl="1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400" dirty="0" smtClean="0">
                <a:cs typeface="Arial"/>
              </a:rPr>
              <a:t>The network learn values of gates by </a:t>
            </a:r>
            <a:r>
              <a:rPr lang="en-US" sz="2400" dirty="0" smtClean="0">
                <a:cs typeface="Arial"/>
              </a:rPr>
              <a:t>back-propagate </a:t>
            </a:r>
            <a:r>
              <a:rPr lang="en-US" sz="2400" dirty="0" smtClean="0">
                <a:cs typeface="Arial"/>
              </a:rPr>
              <a:t>error through these gates. </a:t>
            </a:r>
          </a:p>
          <a:p>
            <a:pPr lvl="1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400" dirty="0" smtClean="0">
                <a:cs typeface="Arial"/>
              </a:rPr>
              <a:t>Gates are sigmoid (or logistic) functions, we can learn there weights </a:t>
            </a:r>
          </a:p>
          <a:p>
            <a:pPr lvl="1">
              <a:spcAft>
                <a:spcPts val="0"/>
              </a:spcAft>
              <a:buFont typeface="Arial"/>
              <a:buChar char="–"/>
              <a:defRPr/>
            </a:pPr>
            <a:endParaRPr lang="en-US" sz="2400" dirty="0"/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9248458" y="3825243"/>
            <a:ext cx="881062" cy="1107016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cxnSp>
        <p:nvCxnSpPr>
          <p:cNvPr id="7" name="Straight Arrow Connector 6"/>
          <p:cNvCxnSpPr>
            <a:cxnSpLocks noChangeShapeType="1"/>
            <a:endCxn id="5" idx="3"/>
          </p:cNvCxnSpPr>
          <p:nvPr/>
        </p:nvCxnSpPr>
        <p:spPr bwMode="auto">
          <a:xfrm flipV="1">
            <a:off x="8937309" y="4769277"/>
            <a:ext cx="441325" cy="1246716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arrow" w="lg" len="lg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Straight Arrow Connector 7"/>
          <p:cNvCxnSpPr>
            <a:cxnSpLocks noChangeShapeType="1"/>
            <a:stCxn id="5" idx="5"/>
          </p:cNvCxnSpPr>
          <p:nvPr/>
        </p:nvCxnSpPr>
        <p:spPr bwMode="auto">
          <a:xfrm>
            <a:off x="10000935" y="4769277"/>
            <a:ext cx="382587" cy="1246716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arrow" w="lg" len="lg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10000933" y="6015993"/>
            <a:ext cx="1517650" cy="707886"/>
          </a:xfrm>
          <a:prstGeom prst="rect">
            <a:avLst/>
          </a:prstGeom>
          <a:solidFill>
            <a:srgbClr val="EEECE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r>
              <a:rPr lang="en-US" sz="2000">
                <a:cs typeface="Arial" pitchFamily="34" charset="0"/>
              </a:rPr>
              <a:t>output to rest of RNN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8002270" y="6039277"/>
            <a:ext cx="1517650" cy="707886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r>
              <a:rPr lang="en-US" sz="2000">
                <a:cs typeface="Arial" pitchFamily="34" charset="0"/>
              </a:rPr>
              <a:t>input from rest of RNN</a:t>
            </a:r>
          </a:p>
        </p:txBody>
      </p:sp>
      <p:sp>
        <p:nvSpPr>
          <p:cNvPr id="14" name="Oval 13"/>
          <p:cNvSpPr>
            <a:spLocks noChangeArrowheads="1"/>
          </p:cNvSpPr>
          <p:nvPr/>
        </p:nvSpPr>
        <p:spPr bwMode="auto">
          <a:xfrm>
            <a:off x="10651808" y="4671909"/>
            <a:ext cx="881062" cy="1107016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15" name="Oval 14"/>
          <p:cNvSpPr>
            <a:spLocks noChangeArrowheads="1"/>
          </p:cNvSpPr>
          <p:nvPr/>
        </p:nvSpPr>
        <p:spPr bwMode="auto">
          <a:xfrm>
            <a:off x="7768907" y="4668736"/>
            <a:ext cx="881062" cy="1107017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10759758" y="4731177"/>
            <a:ext cx="10287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r>
              <a:rPr lang="en-US" sz="2000">
                <a:cs typeface="Arial" pitchFamily="34" charset="0"/>
              </a:rPr>
              <a:t>read gate</a:t>
            </a: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7876858" y="4703660"/>
            <a:ext cx="87471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r>
              <a:rPr lang="en-US" sz="2000">
                <a:cs typeface="Arial" pitchFamily="34" charset="0"/>
              </a:rPr>
              <a:t>write gate</a:t>
            </a:r>
          </a:p>
        </p:txBody>
      </p:sp>
      <p:sp>
        <p:nvSpPr>
          <p:cNvPr id="21" name="Oval 20"/>
          <p:cNvSpPr>
            <a:spLocks noChangeArrowheads="1"/>
          </p:cNvSpPr>
          <p:nvPr/>
        </p:nvSpPr>
        <p:spPr bwMode="auto">
          <a:xfrm>
            <a:off x="9248458" y="1924477"/>
            <a:ext cx="881062" cy="11049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9335772" y="1958344"/>
            <a:ext cx="118586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r>
              <a:rPr lang="en-US" sz="2000">
                <a:cs typeface="Arial" pitchFamily="34" charset="0"/>
              </a:rPr>
              <a:t>keep gate</a:t>
            </a:r>
          </a:p>
        </p:txBody>
      </p:sp>
      <p:cxnSp>
        <p:nvCxnSpPr>
          <p:cNvPr id="24" name="Curved Connector 23"/>
          <p:cNvCxnSpPr>
            <a:cxnSpLocks noChangeShapeType="1"/>
            <a:stCxn id="5" idx="2"/>
            <a:endCxn id="5" idx="6"/>
          </p:cNvCxnSpPr>
          <p:nvPr/>
        </p:nvCxnSpPr>
        <p:spPr bwMode="auto">
          <a:xfrm rot="10800000" flipH="1">
            <a:off x="9248458" y="4379810"/>
            <a:ext cx="881062" cy="16933"/>
          </a:xfrm>
          <a:prstGeom prst="curvedConnector5">
            <a:avLst>
              <a:gd name="adj1" fmla="val -25963"/>
              <a:gd name="adj2" fmla="val 5066662"/>
              <a:gd name="adj3" fmla="val 125963"/>
            </a:avLst>
          </a:prstGeom>
          <a:noFill/>
          <a:ln w="25400">
            <a:solidFill>
              <a:srgbClr val="000000"/>
            </a:solidFill>
            <a:round/>
            <a:headEnd/>
            <a:tailEnd type="arrow" w="lg" len="lg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" name="Isosceles Triangle 28"/>
          <p:cNvSpPr>
            <a:spLocks noChangeArrowheads="1"/>
          </p:cNvSpPr>
          <p:nvPr/>
        </p:nvSpPr>
        <p:spPr bwMode="auto">
          <a:xfrm>
            <a:off x="9575485" y="3272793"/>
            <a:ext cx="236537" cy="27728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19050">
            <a:solidFill>
              <a:schemeClr val="tx1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30" name="Isosceles Triangle 29"/>
          <p:cNvSpPr>
            <a:spLocks noChangeArrowheads="1"/>
          </p:cNvSpPr>
          <p:nvPr/>
        </p:nvSpPr>
        <p:spPr bwMode="auto">
          <a:xfrm rot="4072946">
            <a:off x="10178998" y="5314054"/>
            <a:ext cx="283633" cy="201612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19050">
            <a:solidFill>
              <a:schemeClr val="tx1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31" name="Isosceles Triangle 30"/>
          <p:cNvSpPr>
            <a:spLocks noChangeArrowheads="1"/>
          </p:cNvSpPr>
          <p:nvPr/>
        </p:nvSpPr>
        <p:spPr bwMode="auto">
          <a:xfrm rot="-4055934">
            <a:off x="8870897" y="5316699"/>
            <a:ext cx="328084" cy="211138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19050">
            <a:solidFill>
              <a:schemeClr val="tx1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cxnSp>
        <p:nvCxnSpPr>
          <p:cNvPr id="33" name="Straight Connector 32"/>
          <p:cNvCxnSpPr>
            <a:cxnSpLocks noChangeShapeType="1"/>
            <a:stCxn id="30" idx="0"/>
            <a:endCxn id="14" idx="2"/>
          </p:cNvCxnSpPr>
          <p:nvPr/>
        </p:nvCxnSpPr>
        <p:spPr bwMode="auto">
          <a:xfrm flipV="1">
            <a:off x="10413685" y="5226478"/>
            <a:ext cx="238125" cy="13758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" name="Straight Connector 36"/>
          <p:cNvCxnSpPr>
            <a:cxnSpLocks noChangeShapeType="1"/>
            <a:endCxn id="31" idx="0"/>
          </p:cNvCxnSpPr>
          <p:nvPr/>
        </p:nvCxnSpPr>
        <p:spPr bwMode="auto">
          <a:xfrm>
            <a:off x="8649970" y="5222245"/>
            <a:ext cx="287338" cy="146049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" name="Straight Connector 43"/>
          <p:cNvCxnSpPr>
            <a:cxnSpLocks noChangeShapeType="1"/>
            <a:stCxn id="29" idx="0"/>
            <a:endCxn id="21" idx="4"/>
          </p:cNvCxnSpPr>
          <p:nvPr/>
        </p:nvCxnSpPr>
        <p:spPr bwMode="auto">
          <a:xfrm flipH="1" flipV="1">
            <a:off x="9689785" y="3029376"/>
            <a:ext cx="3175" cy="243416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" name="TextBox 46"/>
          <p:cNvSpPr txBox="1">
            <a:spLocks noChangeArrowheads="1"/>
          </p:cNvSpPr>
          <p:nvPr/>
        </p:nvSpPr>
        <p:spPr bwMode="auto">
          <a:xfrm>
            <a:off x="9299258" y="4087709"/>
            <a:ext cx="9334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r>
              <a:rPr lang="en-US" sz="2000" dirty="0">
                <a:cs typeface="Arial" pitchFamily="34" charset="0"/>
              </a:rPr>
              <a:t> 1.73</a:t>
            </a:r>
          </a:p>
        </p:txBody>
      </p:sp>
      <p:cxnSp>
        <p:nvCxnSpPr>
          <p:cNvPr id="48" name="Straight Arrow Connector 47"/>
          <p:cNvCxnSpPr>
            <a:cxnSpLocks noChangeShapeType="1"/>
            <a:endCxn id="21" idx="2"/>
          </p:cNvCxnSpPr>
          <p:nvPr/>
        </p:nvCxnSpPr>
        <p:spPr bwMode="auto">
          <a:xfrm>
            <a:off x="8384858" y="2476925"/>
            <a:ext cx="863600" cy="0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arrow" w="lg" len="lg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" name="Straight Arrow Connector 50"/>
          <p:cNvCxnSpPr>
            <a:cxnSpLocks noChangeShapeType="1"/>
          </p:cNvCxnSpPr>
          <p:nvPr/>
        </p:nvCxnSpPr>
        <p:spPr bwMode="auto">
          <a:xfrm>
            <a:off x="8210233" y="3550077"/>
            <a:ext cx="0" cy="1119716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arrow" w="lg" len="lg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" name="Straight Arrow Connector 54"/>
          <p:cNvCxnSpPr>
            <a:cxnSpLocks noChangeShapeType="1"/>
            <a:endCxn id="14" idx="0"/>
          </p:cNvCxnSpPr>
          <p:nvPr/>
        </p:nvCxnSpPr>
        <p:spPr bwMode="auto">
          <a:xfrm>
            <a:off x="11093133" y="3586060"/>
            <a:ext cx="0" cy="1085851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arrow" w="lg" len="lg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728416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13" grpId="0" animBg="1"/>
      <p:bldP spid="14" grpId="0" animBg="1"/>
      <p:bldP spid="15" grpId="0" animBg="1"/>
      <p:bldP spid="19" grpId="0"/>
      <p:bldP spid="20" grpId="0"/>
      <p:bldP spid="21" grpId="0" animBg="1"/>
      <p:bldP spid="22" grpId="0"/>
      <p:bldP spid="29" grpId="0" animBg="1"/>
      <p:bldP spid="30" grpId="0" animBg="1"/>
      <p:bldP spid="31" grpId="0" animBg="1"/>
      <p:bldP spid="4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Understanding LSTM Architecture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057400"/>
            <a:ext cx="8066116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267200" y="5181601"/>
            <a:ext cx="3733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Repeated blocks in RNNs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23723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LSTM Architecture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866" y="2001896"/>
            <a:ext cx="8990735" cy="32559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267200" y="5253336"/>
            <a:ext cx="3733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Repeated blocks in LSTMs</a:t>
            </a:r>
            <a:endParaRPr lang="en-US" sz="24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5791201"/>
            <a:ext cx="5334000" cy="9436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91440" y="2160955"/>
            <a:ext cx="168656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Instead of having a single neural network layer, there are four, interacting in a very special </a:t>
            </a:r>
            <a:r>
              <a:rPr lang="en-US" dirty="0" smtClean="0"/>
              <a:t>way.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863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LSTM Architecture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954979"/>
            <a:ext cx="6172200" cy="3830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181600" y="5715001"/>
            <a:ext cx="228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unit of LSTMs</a:t>
            </a: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0" y="2069068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Cell state</a:t>
            </a:r>
            <a:endParaRPr lang="en-US" dirty="0"/>
          </a:p>
        </p:txBody>
      </p:sp>
      <p:cxnSp>
        <p:nvCxnSpPr>
          <p:cNvPr id="7" name="Curved Connector 6"/>
          <p:cNvCxnSpPr/>
          <p:nvPr/>
        </p:nvCxnSpPr>
        <p:spPr>
          <a:xfrm rot="5400000" flipH="1" flipV="1">
            <a:off x="4632067" y="2574667"/>
            <a:ext cx="794266" cy="304800"/>
          </a:xfrm>
          <a:prstGeom prst="curvedConnector3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1600" y="2357561"/>
            <a:ext cx="29464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key to LSTMs is the cell state, the horizontal line running through the top of the diagram</a:t>
            </a:r>
            <a:r>
              <a:rPr lang="en-US" dirty="0" smtClean="0"/>
              <a:t>.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cell state is kind of like a conveyor belt. It runs straight down the entire chain, with only some minor linear interactions.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It’s </a:t>
            </a:r>
            <a:r>
              <a:rPr lang="en-US" dirty="0"/>
              <a:t>very easy for information to just flow along it unchanged</a:t>
            </a:r>
          </a:p>
        </p:txBody>
      </p:sp>
    </p:spTree>
    <p:extLst>
      <p:ext uri="{BB962C8B-B14F-4D97-AF65-F5344CB8AC3E}">
        <p14:creationId xmlns:p14="http://schemas.microsoft.com/office/powerpoint/2010/main" val="3652872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LSTM Architecture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215428"/>
            <a:ext cx="6629400" cy="3804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5550" y="5925212"/>
            <a:ext cx="3542450" cy="708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10667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LSTM Architecture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1188" y="1907783"/>
            <a:ext cx="6359013" cy="3903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988" y="5709554"/>
            <a:ext cx="3223712" cy="845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1345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LSTM Architecture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907241"/>
            <a:ext cx="6248400" cy="3932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8316" y="5638801"/>
            <a:ext cx="2982727" cy="664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6927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LSTM Architecture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295" y="1952203"/>
            <a:ext cx="6362411" cy="3919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375" y="5715000"/>
            <a:ext cx="3393626" cy="949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5631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Practical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IMDb Movie Reviews dataset is a binary sentiment analysis dataset consisting of 50,000 reviews from the Internet Movie Database (IMDb) labeled as positive or negative.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dataset contains an even number of positive and negative reviews.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65160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b385d60f68dd989dca1fdc827799d85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911b479caf7b199da365455750e4572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Status xmlns="71af3243-3dd4-4a8d-8c0d-dd76da1f02a5">Not started</Status>
  </documentManagement>
</p:properties>
</file>

<file path=customXml/itemProps1.xml><?xml version="1.0" encoding="utf-8"?>
<ds:datastoreItem xmlns:ds="http://schemas.openxmlformats.org/officeDocument/2006/customXml" ds:itemID="{E3FC8A1C-A436-42C0-AC33-FAFFFAF219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852F5D-AAE7-473B-9767-8875B60BC6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F5C8BF1-B0E4-49A1-808F-40F2AD30E743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0</TotalTime>
  <Words>1113</Words>
  <Application>Microsoft Office PowerPoint</Application>
  <PresentationFormat>Widescreen</PresentationFormat>
  <Paragraphs>123</Paragraphs>
  <Slides>27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ＭＳ Ｐゴシック</vt:lpstr>
      <vt:lpstr>Arial</vt:lpstr>
      <vt:lpstr>Calibri</vt:lpstr>
      <vt:lpstr>Gill Sans MT</vt:lpstr>
      <vt:lpstr>Roboto</vt:lpstr>
      <vt:lpstr>Wingdings</vt:lpstr>
      <vt:lpstr>Wingdings 2</vt:lpstr>
      <vt:lpstr>Dividend</vt:lpstr>
      <vt:lpstr>Recurrent Neural Networks</vt:lpstr>
      <vt:lpstr>OUTLINE</vt:lpstr>
      <vt:lpstr>Introduction</vt:lpstr>
      <vt:lpstr>Introduction</vt:lpstr>
      <vt:lpstr>Introduction</vt:lpstr>
      <vt:lpstr>History</vt:lpstr>
      <vt:lpstr>Architecture</vt:lpstr>
      <vt:lpstr>architecture</vt:lpstr>
      <vt:lpstr>Typical RNNs Applications</vt:lpstr>
      <vt:lpstr>Typical RNNs Applications</vt:lpstr>
      <vt:lpstr>Typical RNNs Applications</vt:lpstr>
      <vt:lpstr>Typical RNNs Applications</vt:lpstr>
      <vt:lpstr>Typical RNNs Applications</vt:lpstr>
      <vt:lpstr>Limitations</vt:lpstr>
      <vt:lpstr>Limitations</vt:lpstr>
      <vt:lpstr>Limitations</vt:lpstr>
      <vt:lpstr>Gradient Problem Solutions</vt:lpstr>
      <vt:lpstr>Long Short Term Memory (LSTM)</vt:lpstr>
      <vt:lpstr>Basic Architecture of LSTM Unit</vt:lpstr>
      <vt:lpstr>Understanding LSTM Architecture</vt:lpstr>
      <vt:lpstr>Understanding LSTM Architecture</vt:lpstr>
      <vt:lpstr>Understanding LSTM Architecture</vt:lpstr>
      <vt:lpstr>Understanding LSTM Architecture</vt:lpstr>
      <vt:lpstr>Understanding LSTM Architecture</vt:lpstr>
      <vt:lpstr>Understanding LSTM Architecture</vt:lpstr>
      <vt:lpstr>Understanding LSTM Architecture</vt:lpstr>
      <vt:lpstr>Practical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2022-02-26T07:50:32Z</dcterms:created>
  <dcterms:modified xsi:type="dcterms:W3CDTF">2022-04-24T11:21:15Z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